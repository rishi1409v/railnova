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9144000" cy="5143500" type="screen16x9"/>
  <p:notesSz cx="5143500" cy="9144000"/>
  <p:embeddedFontLst>
    <p:embeddedFont>
      <p:font typeface="Gill Sans MT" panose="020B0502020104020203" pitchFamily="34" charset="0"/>
      <p:regular r:id="rId15"/>
      <p:bold r:id="rId16"/>
      <p:italic r:id="rId17"/>
      <p:boldItalic r:id="rId18"/>
    </p:embeddedFont>
    <p:embeddedFont>
      <p:font typeface="Gill Sans Ultra Bold" panose="020B0A02020104020203" pitchFamily="34" charset="0"/>
      <p:regular r:id="rId19"/>
    </p:embeddedFont>
    <p:embeddedFont>
      <p:font typeface="Goudy Old Style" panose="02020502050305020303" pitchFamily="18" charset="0"/>
      <p:regular r:id="rId20"/>
      <p:bold r:id="rId21"/>
      <p:italic r:id="rId22"/>
    </p:embeddedFont>
    <p:embeddedFont>
      <p:font typeface="Instrument Sans" panose="020B0604020202020204" charset="0"/>
      <p:regular r:id="rId23"/>
    </p:embeddedFont>
    <p:embeddedFont>
      <p:font typeface="Instrument Sans Medium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19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D3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svg"/><Relationship Id="rId3" Type="http://schemas.openxmlformats.org/officeDocument/2006/relationships/image" Target="../media/image56.png"/><Relationship Id="rId7" Type="http://schemas.openxmlformats.org/officeDocument/2006/relationships/image" Target="../media/image60.sv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svg"/><Relationship Id="rId9" Type="http://schemas.openxmlformats.org/officeDocument/2006/relationships/image" Target="../media/image6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72666"/>
            <a:ext cx="1734592" cy="243706"/>
          </a:xfrm>
          <a:prstGeom prst="roundRect">
            <a:avLst>
              <a:gd name="adj" fmla="val 19546"/>
            </a:avLst>
          </a:prstGeom>
          <a:solidFill>
            <a:srgbClr val="1C03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74" y="1037779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1015157"/>
            <a:ext cx="1851571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YUDHISHTHIRA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99207" y="1273076"/>
            <a:ext cx="7316912" cy="70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550" dirty="0">
                <a:solidFill>
                  <a:srgbClr val="AD9CCE"/>
                </a:solidFill>
                <a:latin typeface="Gill Sans Ultra Bold" panose="020B0A02020104020203" pitchFamily="34" charset="0"/>
                <a:ea typeface="Instrument Sans Medium" pitchFamily="34" charset="-122"/>
                <a:cs typeface="Instrument Sans Medium" pitchFamily="34" charset="-120"/>
              </a:rPr>
              <a:t>RailNova</a:t>
            </a:r>
            <a:endParaRPr lang="en-US" sz="5550" dirty="0">
              <a:latin typeface="Gill Sans Ultra Bold" panose="020B0A020201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356172" y="2194545"/>
            <a:ext cx="4202981" cy="212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D7BBFF"/>
                </a:solidFill>
                <a:latin typeface="Goudy Old Style" panose="02020502050305020303" pitchFamily="18" charset="0"/>
                <a:ea typeface="Instrument Sans Medium" pitchFamily="34" charset="-122"/>
                <a:cs typeface="Instrument Sans Medium" pitchFamily="34" charset="-120"/>
              </a:rPr>
              <a:t>Smart Indoor Railway Navigation System</a:t>
            </a:r>
            <a:endParaRPr lang="en-US" sz="1650" dirty="0">
              <a:latin typeface="Goudy Old Style" panose="020205020503050203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119" y="2655243"/>
            <a:ext cx="8151763" cy="10567"/>
          </a:xfrm>
          <a:prstGeom prst="rect">
            <a:avLst/>
          </a:prstGeom>
          <a:solidFill>
            <a:srgbClr val="CCB9D7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2860700"/>
            <a:ext cx="1931566" cy="952202"/>
          </a:xfrm>
          <a:prstGeom prst="roundRect">
            <a:avLst>
              <a:gd name="adj" fmla="val 6253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3007221"/>
            <a:ext cx="163852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Team</a:t>
            </a:r>
            <a:endParaRPr lang="en-US" sz="1350" b="1" dirty="0"/>
          </a:p>
        </p:txBody>
      </p:sp>
      <p:sp>
        <p:nvSpPr>
          <p:cNvPr id="10" name="Text 7"/>
          <p:cNvSpPr/>
          <p:nvPr/>
        </p:nvSpPr>
        <p:spPr>
          <a:xfrm>
            <a:off x="642640" y="3269456"/>
            <a:ext cx="16385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First Year B.E. Students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9443" y="2860700"/>
            <a:ext cx="1931640" cy="952202"/>
          </a:xfrm>
          <a:prstGeom prst="roundRect">
            <a:avLst>
              <a:gd name="adj" fmla="val 6253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15964" y="3007221"/>
            <a:ext cx="163859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Department</a:t>
            </a:r>
            <a:endParaRPr lang="en-US" sz="1350" b="1" dirty="0"/>
          </a:p>
        </p:txBody>
      </p:sp>
      <p:sp>
        <p:nvSpPr>
          <p:cNvPr id="13" name="Text 10"/>
          <p:cNvSpPr/>
          <p:nvPr/>
        </p:nvSpPr>
        <p:spPr>
          <a:xfrm>
            <a:off x="2715964" y="3269456"/>
            <a:ext cx="1638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CSE [CYBER SECURITY]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42842" y="2860700"/>
            <a:ext cx="1931640" cy="952202"/>
          </a:xfrm>
          <a:prstGeom prst="roundRect">
            <a:avLst>
              <a:gd name="adj" fmla="val 6253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9363" y="3007221"/>
            <a:ext cx="163859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Institution</a:t>
            </a:r>
            <a:endParaRPr lang="en-US" sz="1350" b="1" dirty="0"/>
          </a:p>
        </p:txBody>
      </p:sp>
      <p:sp>
        <p:nvSpPr>
          <p:cNvPr id="16" name="Text 13"/>
          <p:cNvSpPr/>
          <p:nvPr/>
        </p:nvSpPr>
        <p:spPr>
          <a:xfrm>
            <a:off x="4789363" y="3269456"/>
            <a:ext cx="1638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RATHINAM TECHNICAL CAMPUS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16241" y="2860700"/>
            <a:ext cx="1931640" cy="952202"/>
          </a:xfrm>
          <a:prstGeom prst="roundRect">
            <a:avLst>
              <a:gd name="adj" fmla="val 6253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62763" y="3007221"/>
            <a:ext cx="163859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Academic Year</a:t>
            </a:r>
            <a:endParaRPr lang="en-US" sz="1350" b="1" dirty="0"/>
          </a:p>
        </p:txBody>
      </p:sp>
      <p:sp>
        <p:nvSpPr>
          <p:cNvPr id="19" name="Text 16"/>
          <p:cNvSpPr/>
          <p:nvPr/>
        </p:nvSpPr>
        <p:spPr>
          <a:xfrm>
            <a:off x="6862763" y="3269456"/>
            <a:ext cx="1638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 –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6119" y="397237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304" y="758577"/>
            <a:ext cx="3772719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Meet the Team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1396529"/>
            <a:ext cx="83803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Introducing the dedicated students behind the RailNova project.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54460"/>
            <a:ext cx="4004965" cy="782315"/>
          </a:xfrm>
          <a:prstGeom prst="roundRect">
            <a:avLst>
              <a:gd name="adj" fmla="val 7611"/>
            </a:avLst>
          </a:prstGeom>
          <a:solidFill>
            <a:srgbClr val="100D39"/>
          </a:solidFill>
          <a:ln w="19050">
            <a:solidFill>
              <a:srgbClr val="755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1915269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b="1" dirty="0">
                <a:solidFill>
                  <a:srgbClr val="CCB9D7"/>
                </a:solidFill>
                <a:latin typeface="Gill Sans MT" panose="020B0502020104020203" pitchFamily="34" charset="0"/>
                <a:ea typeface="Instrument Sans Medium" pitchFamily="34" charset="-122"/>
                <a:cs typeface="Instrument Sans Medium" pitchFamily="34" charset="-120"/>
              </a:rPr>
              <a:t>Rishi</a:t>
            </a:r>
            <a:r>
              <a:rPr lang="en-US" sz="13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50" b="1" dirty="0">
                <a:solidFill>
                  <a:srgbClr val="CCB9D7"/>
                </a:solidFill>
                <a:latin typeface="Gill Sans MT" panose="020B0502020104020203" pitchFamily="34" charset="0"/>
                <a:ea typeface="Instrument Sans Medium" pitchFamily="34" charset="-122"/>
                <a:cs typeface="Instrument Sans Medium" pitchFamily="34" charset="-120"/>
              </a:rPr>
              <a:t>M</a:t>
            </a:r>
            <a:endParaRPr lang="en-US" sz="1350" b="1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6927" y="2177504"/>
            <a:ext cx="3683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54460"/>
            <a:ext cx="4005039" cy="782315"/>
          </a:xfrm>
          <a:prstGeom prst="roundRect">
            <a:avLst>
              <a:gd name="adj" fmla="val 7611"/>
            </a:avLst>
          </a:prstGeom>
          <a:solidFill>
            <a:srgbClr val="100D39"/>
          </a:solidFill>
          <a:ln w="19050">
            <a:solidFill>
              <a:srgbClr val="5220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3651" y="1915269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Sidheshwarar 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3651" y="2177504"/>
            <a:ext cx="3683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678534"/>
            <a:ext cx="4004965" cy="782315"/>
          </a:xfrm>
          <a:prstGeom prst="roundRect">
            <a:avLst>
              <a:gd name="adj" fmla="val 7611"/>
            </a:avLst>
          </a:prstGeom>
          <a:solidFill>
            <a:srgbClr val="100D39"/>
          </a:solidFill>
          <a:ln w="19050">
            <a:solidFill>
              <a:srgbClr val="3B50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27" y="2839343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Suresh Kumar 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6927" y="3101578"/>
            <a:ext cx="3683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678534"/>
            <a:ext cx="4005039" cy="782315"/>
          </a:xfrm>
          <a:prstGeom prst="roundRect">
            <a:avLst>
              <a:gd name="adj" fmla="val 7611"/>
            </a:avLst>
          </a:prstGeom>
          <a:solidFill>
            <a:srgbClr val="100D39"/>
          </a:solidFill>
          <a:ln w="19050">
            <a:solidFill>
              <a:srgbClr val="755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3651" y="2839343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Ramar 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03651" y="3101578"/>
            <a:ext cx="3683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602608"/>
            <a:ext cx="4004965" cy="782315"/>
          </a:xfrm>
          <a:prstGeom prst="roundRect">
            <a:avLst>
              <a:gd name="adj" fmla="val 7611"/>
            </a:avLst>
          </a:prstGeom>
          <a:solidFill>
            <a:srgbClr val="100D39"/>
          </a:solidFill>
          <a:ln w="19050">
            <a:solidFill>
              <a:srgbClr val="5220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927" y="3763417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Ragul 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927" y="4025652"/>
            <a:ext cx="3683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602608"/>
            <a:ext cx="4005039" cy="782315"/>
          </a:xfrm>
          <a:prstGeom prst="roundRect">
            <a:avLst>
              <a:gd name="adj" fmla="val 7611"/>
            </a:avLst>
          </a:prstGeom>
          <a:solidFill>
            <a:srgbClr val="100D39"/>
          </a:solidFill>
          <a:ln w="19050">
            <a:solidFill>
              <a:srgbClr val="3B50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3651" y="3763417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Sarath 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03651" y="4025652"/>
            <a:ext cx="3683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Member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7372"/>
            <a:ext cx="1276945" cy="191765"/>
          </a:xfrm>
          <a:prstGeom prst="roundRect">
            <a:avLst>
              <a:gd name="adj" fmla="val 19872"/>
            </a:avLst>
          </a:prstGeom>
          <a:noFill/>
          <a:ln w="4763">
            <a:solidFill>
              <a:srgbClr val="A06DF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896" y="577900"/>
            <a:ext cx="90711" cy="90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924" y="566142"/>
            <a:ext cx="145256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A06D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755377"/>
            <a:ext cx="3937546" cy="567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 at Railway Stations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1413123"/>
            <a:ext cx="39375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Millions of passengers face confusion, delays, and safety risks every day due to the lack of intelligent indoor navigation and real-time information at railway stations.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1943770"/>
            <a:ext cx="1937668" cy="1202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676" y="2071464"/>
            <a:ext cx="162512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Difficult Station Navigation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66676" y="2445693"/>
            <a:ext cx="16251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Passengers struggle to locate platforms, exits, and facilities in large, complex stations.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5922" y="1943770"/>
            <a:ext cx="1937742" cy="12022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80767" y="2071464"/>
            <a:ext cx="141766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 Confusion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680767" y="2303934"/>
            <a:ext cx="162520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Frequent platform changes and last-minute announcements cause passenger panic and missed trains.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831" y="3236714"/>
            <a:ext cx="1937668" cy="10582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676" y="3364409"/>
            <a:ext cx="1625129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Crowd Management Issues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66676" y="3738637"/>
            <a:ext cx="16251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Overcrowding at key junctions creates safety hazards and inefficient passenger flow.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95922" y="3236714"/>
            <a:ext cx="1937742" cy="10582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680767" y="3364409"/>
            <a:ext cx="1465585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 Info Accessibility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2680767" y="3596878"/>
            <a:ext cx="16252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 unified system provides real-time train status, coach positions, and delay updates.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4715098" y="527372"/>
            <a:ext cx="1246584" cy="182240"/>
          </a:xfrm>
          <a:prstGeom prst="roundRect">
            <a:avLst>
              <a:gd name="adj" fmla="val 20910"/>
            </a:avLst>
          </a:prstGeom>
          <a:solidFill>
            <a:srgbClr val="1C034A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83113" y="573137"/>
            <a:ext cx="90711" cy="9071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9142" y="561380"/>
            <a:ext cx="1431727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PROPOSED SOLUTION</a:t>
            </a:r>
            <a:endParaRPr lang="en-US" sz="700" dirty="0"/>
          </a:p>
        </p:txBody>
      </p:sp>
      <p:sp>
        <p:nvSpPr>
          <p:cNvPr id="22" name="Text 14"/>
          <p:cNvSpPr/>
          <p:nvPr/>
        </p:nvSpPr>
        <p:spPr>
          <a:xfrm>
            <a:off x="4715098" y="745852"/>
            <a:ext cx="329252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Introducing RailNova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4715098" y="1120080"/>
            <a:ext cx="39375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RailNova is an AI-powered smart indoor railway navigation web portal that delivers real-time station intelligence to every passenger</a:t>
            </a: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.</a:t>
            </a:r>
            <a:endParaRPr lang="en-US" sz="8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15098" y="1507852"/>
            <a:ext cx="283518" cy="28351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715098" y="1904777"/>
            <a:ext cx="1527125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Navigation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4715098" y="2137246"/>
            <a:ext cx="39375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A* pathfinding algorithm calculates the safest, fastest route through the station in real time.</a:t>
            </a:r>
            <a:endParaRPr lang="en-US" sz="9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15098" y="2604418"/>
            <a:ext cx="283518" cy="28351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715098" y="3001342"/>
            <a:ext cx="1465883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Intelligence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4715098" y="3233812"/>
            <a:ext cx="39375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Live platform changes, train delays, crowd alerts, and emergency notifications delivered instantly.</a:t>
            </a:r>
            <a:endParaRPr lang="en-US" sz="9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15098" y="3700983"/>
            <a:ext cx="283518" cy="28351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715098" y="4097908"/>
            <a:ext cx="141766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4715098" y="4330378"/>
            <a:ext cx="39375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Gemini AI-powered chatbot answers natural language queries about trains, platforms, and navigation.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094"/>
            <a:ext cx="463026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 &amp; System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80182"/>
            <a:ext cx="1786235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202754"/>
            <a:ext cx="212601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96119" y="1342504"/>
            <a:ext cx="3105001" cy="14288"/>
          </a:xfrm>
          <a:prstGeom prst="rect">
            <a:avLst/>
          </a:prstGeom>
          <a:solidFill>
            <a:srgbClr val="7550CE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424211"/>
            <a:ext cx="1329035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Navigation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1636812"/>
            <a:ext cx="3105001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Provide real-time indoor pathfinding across all station zones using the A* algorithm.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6119" y="2056656"/>
            <a:ext cx="212601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9" name="Shape 7"/>
          <p:cNvSpPr/>
          <p:nvPr/>
        </p:nvSpPr>
        <p:spPr>
          <a:xfrm>
            <a:off x="496119" y="2196405"/>
            <a:ext cx="3105001" cy="14288"/>
          </a:xfrm>
          <a:prstGeom prst="rect">
            <a:avLst/>
          </a:prstGeom>
          <a:solidFill>
            <a:srgbClr val="522069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278112"/>
            <a:ext cx="135054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Passenger Assistance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6119" y="2490713"/>
            <a:ext cx="3105001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Help passengers find platforms, coaches, and facilities with voice and visual guidance.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6119" y="2910557"/>
            <a:ext cx="212601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6119" y="3050307"/>
            <a:ext cx="3105001" cy="14288"/>
          </a:xfrm>
          <a:prstGeom prst="rect">
            <a:avLst/>
          </a:prstGeom>
          <a:solidFill>
            <a:srgbClr val="3B50B4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132013"/>
            <a:ext cx="1502420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Train Updates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119" y="3344614"/>
            <a:ext cx="3105001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Deliver live delay, platform change, and coach position data to passengers instantly.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6119" y="3764459"/>
            <a:ext cx="212601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6119" y="3904208"/>
            <a:ext cx="3105001" cy="14288"/>
          </a:xfrm>
          <a:prstGeom prst="rect">
            <a:avLst/>
          </a:prstGeom>
          <a:solidFill>
            <a:srgbClr val="7550CE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985915"/>
            <a:ext cx="1329035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Safety Enhancement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119" y="4198516"/>
            <a:ext cx="3105001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Monitor crowd density and broadcast emergency notifications to improve station safety.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65290" y="980182"/>
            <a:ext cx="1786235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728" y="1202754"/>
            <a:ext cx="3590404" cy="161567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04557" y="1289278"/>
            <a:ext cx="628319" cy="7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Passengers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004557" y="1394573"/>
            <a:ext cx="628319" cy="13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Web portal entry for users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5625971" y="2501036"/>
            <a:ext cx="631772" cy="7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RailNova Portal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625971" y="2606332"/>
            <a:ext cx="631772" cy="135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React + TypeScript + Tailwind UI</a:t>
            </a:r>
            <a:endParaRPr lang="en-US" sz="450" dirty="0"/>
          </a:p>
        </p:txBody>
      </p:sp>
      <p:sp>
        <p:nvSpPr>
          <p:cNvPr id="26" name="Text 23"/>
          <p:cNvSpPr/>
          <p:nvPr/>
        </p:nvSpPr>
        <p:spPr>
          <a:xfrm>
            <a:off x="6240481" y="1277195"/>
            <a:ext cx="628319" cy="7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&amp; Navigation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240481" y="1382490"/>
            <a:ext cx="628319" cy="13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Gemini AI with A* pathfinding</a:t>
            </a:r>
            <a:endParaRPr lang="en-US" sz="450" dirty="0"/>
          </a:p>
        </p:txBody>
      </p:sp>
      <p:sp>
        <p:nvSpPr>
          <p:cNvPr id="28" name="Text 25"/>
          <p:cNvSpPr/>
          <p:nvPr/>
        </p:nvSpPr>
        <p:spPr>
          <a:xfrm>
            <a:off x="6861896" y="2501036"/>
            <a:ext cx="628319" cy="7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Supabase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861896" y="2606332"/>
            <a:ext cx="628319" cy="135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Realtime DB, Auth, and Storage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3865290" y="2908102"/>
            <a:ext cx="4787280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RailNova's layered architecture ensures seamless data flow from passenger interaction through AI processing to secure admin governance.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7320"/>
            <a:ext cx="551817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Roles &amp; Interactive Station Map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24533"/>
            <a:ext cx="2495104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Role-Based Access Hierarchy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290340"/>
            <a:ext cx="971773" cy="299368"/>
          </a:xfrm>
          <a:prstGeom prst="roundRect">
            <a:avLst>
              <a:gd name="adj" fmla="val 16906"/>
            </a:avLst>
          </a:prstGeom>
          <a:solidFill>
            <a:srgbClr val="7550CE"/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285" y="1355303"/>
            <a:ext cx="169441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6119" y="1619771"/>
            <a:ext cx="1943546" cy="299368"/>
          </a:xfrm>
          <a:prstGeom prst="roundRect">
            <a:avLst>
              <a:gd name="adj" fmla="val 16906"/>
            </a:avLst>
          </a:prstGeom>
          <a:solidFill>
            <a:srgbClr val="522069"/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3134" y="1684734"/>
            <a:ext cx="169441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6119" y="1949202"/>
            <a:ext cx="2915394" cy="299368"/>
          </a:xfrm>
          <a:prstGeom prst="roundRect">
            <a:avLst>
              <a:gd name="adj" fmla="val 16906"/>
            </a:avLst>
          </a:prstGeom>
          <a:solidFill>
            <a:srgbClr val="3B50B4"/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9058" y="2014165"/>
            <a:ext cx="169441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6119" y="2369046"/>
            <a:ext cx="240953" cy="240953"/>
          </a:xfrm>
          <a:prstGeom prst="roundRect">
            <a:avLst>
              <a:gd name="adj" fmla="val 21004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288" y="2414215"/>
            <a:ext cx="150614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9465" y="2414215"/>
            <a:ext cx="1506215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Passenger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9465" y="2667223"/>
            <a:ext cx="257204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Navigate station, find trains, use AI assistant, view real-time alerts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3159919"/>
            <a:ext cx="240953" cy="240953"/>
          </a:xfrm>
          <a:prstGeom prst="roundRect">
            <a:avLst>
              <a:gd name="adj" fmla="val 21004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288" y="3205088"/>
            <a:ext cx="150614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9465" y="3205088"/>
            <a:ext cx="163160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Station Master (Admin)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9465" y="3458096"/>
            <a:ext cx="257204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Manage trains, platforms, crowd data, and emergency notifications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119" y="3950791"/>
            <a:ext cx="240953" cy="240953"/>
          </a:xfrm>
          <a:prstGeom prst="roundRect">
            <a:avLst>
              <a:gd name="adj" fmla="val 21004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288" y="3995961"/>
            <a:ext cx="150614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9465" y="3995961"/>
            <a:ext cx="1506215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Head Officer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9465" y="4248969"/>
            <a:ext cx="257204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Approve/reject admin registrations and oversee all station operations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0211" y="1024533"/>
            <a:ext cx="2990180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Station Map — Key Zones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10211" y="1290340"/>
            <a:ext cx="1579141" cy="976164"/>
          </a:xfrm>
          <a:prstGeom prst="roundRect">
            <a:avLst>
              <a:gd name="adj" fmla="val 5185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5450" y="1415579"/>
            <a:ext cx="13286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🚉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Platforms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35450" y="1673349"/>
            <a:ext cx="132866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Live platform status with train assignments and crowd levels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1745" y="1290340"/>
            <a:ext cx="1579215" cy="976164"/>
          </a:xfrm>
          <a:prstGeom prst="roundRect">
            <a:avLst>
              <a:gd name="adj" fmla="val 5185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6984" y="1415579"/>
            <a:ext cx="1328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🚇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Subway 1 &amp; 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16984" y="1673349"/>
            <a:ext cx="1328738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Underground passage routes with real-time congestion indicators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73354" y="1290340"/>
            <a:ext cx="1579215" cy="976164"/>
          </a:xfrm>
          <a:prstGeom prst="roundRect">
            <a:avLst>
              <a:gd name="adj" fmla="val 5185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8593" y="1415579"/>
            <a:ext cx="1328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🚪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Entrance / Exit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98593" y="1673349"/>
            <a:ext cx="1328738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Main station entry with route guidance from gate to platform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10211" y="2368897"/>
            <a:ext cx="1579141" cy="976164"/>
          </a:xfrm>
          <a:prstGeom prst="roundRect">
            <a:avLst>
              <a:gd name="adj" fmla="val 5185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35450" y="2494136"/>
            <a:ext cx="13286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🎟️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Ticket Counter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35450" y="2751906"/>
            <a:ext cx="132866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Located near entrance; navigable from any station zone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1745" y="2368897"/>
            <a:ext cx="1579215" cy="976164"/>
          </a:xfrm>
          <a:prstGeom prst="roundRect">
            <a:avLst>
              <a:gd name="adj" fmla="val 5185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6984" y="2494136"/>
            <a:ext cx="1328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🚲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Bike Parking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16984" y="2751906"/>
            <a:ext cx="1328738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Secure parking zone with walking direction support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73354" y="2368897"/>
            <a:ext cx="1579215" cy="976164"/>
          </a:xfrm>
          <a:prstGeom prst="roundRect">
            <a:avLst>
              <a:gd name="adj" fmla="val 5185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98593" y="2494136"/>
            <a:ext cx="1328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🍽️</a:t>
            </a: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Aiyappa Mess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198593" y="2751906"/>
            <a:ext cx="1328738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Food facility point of interest visible on the station map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501"/>
            <a:ext cx="7371829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Navigation, Train Finder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20" y="1195536"/>
            <a:ext cx="5432896" cy="3319463"/>
          </a:xfrm>
          <a:prstGeom prst="roundRect">
            <a:avLst>
              <a:gd name="adj" fmla="val 1794"/>
            </a:avLst>
          </a:prstGeom>
          <a:solidFill>
            <a:srgbClr val="432F84"/>
          </a:solidFill>
          <a:ln w="4763">
            <a:solidFill>
              <a:srgbClr val="8E69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500881" y="1200299"/>
            <a:ext cx="2714030" cy="3309938"/>
          </a:xfrm>
          <a:prstGeom prst="roundRect">
            <a:avLst>
              <a:gd name="adj" fmla="val 2194"/>
            </a:avLst>
          </a:prstGeom>
          <a:solidFill>
            <a:srgbClr val="432F84"/>
          </a:solidFill>
          <a:ln/>
        </p:spPr>
      </p:sp>
      <p:sp>
        <p:nvSpPr>
          <p:cNvPr id="5" name="Text 3"/>
          <p:cNvSpPr/>
          <p:nvPr/>
        </p:nvSpPr>
        <p:spPr>
          <a:xfrm>
            <a:off x="642640" y="1342058"/>
            <a:ext cx="202272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 Navigation Engine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1604293"/>
            <a:ext cx="221791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Start Location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→ Pathfinding Algorithm (A*) → Safe Route Calculation → </a:t>
            </a: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Animated Route Display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640" y="2483197"/>
            <a:ext cx="2217911" cy="188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Passenger selects start and destination zone on the interactive map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A* algorithm computes the shortest, safest path avoiding congested areas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Animated step-by-step route is displayed with distance and estimated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911" y="1200299"/>
            <a:ext cx="19050" cy="3309938"/>
          </a:xfrm>
          <a:prstGeom prst="roundRect">
            <a:avLst>
              <a:gd name="adj" fmla="val 312558"/>
            </a:avLst>
          </a:prstGeom>
          <a:solidFill>
            <a:srgbClr val="6B3982"/>
          </a:solidFill>
          <a:ln/>
        </p:spPr>
      </p:sp>
      <p:sp>
        <p:nvSpPr>
          <p:cNvPr id="10" name="Text 8"/>
          <p:cNvSpPr/>
          <p:nvPr/>
        </p:nvSpPr>
        <p:spPr>
          <a:xfrm>
            <a:off x="3569271" y="1342058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Train Finder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9271" y="1604293"/>
            <a:ext cx="200538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Train Number Input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→ Platform Detection → Coach Position → Delay Status → </a:t>
            </a: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Route Guidance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9271" y="2483197"/>
            <a:ext cx="2005385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Enter train number to instantly retrieve platform and coach layout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Coach zone overlaid on station map for precise boarding guidance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Real-time delay status and departure time displayed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37731" y="2678088"/>
            <a:ext cx="354360" cy="354360"/>
          </a:xfrm>
          <a:prstGeom prst="roundRect">
            <a:avLst>
              <a:gd name="adj" fmla="val 16803"/>
            </a:avLst>
          </a:prstGeom>
          <a:solidFill>
            <a:srgbClr val="100D39"/>
          </a:solidFill>
          <a:ln w="19050">
            <a:solidFill>
              <a:srgbClr val="6B3982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6284" y="2766640"/>
            <a:ext cx="177180" cy="177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3772"/>
            <a:ext cx="43384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Assistant &amp; Real-Time Features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964183"/>
            <a:ext cx="1778124" cy="153963"/>
          </a:xfrm>
          <a:prstGeom prst="roundRect">
            <a:avLst>
              <a:gd name="adj" fmla="val 21657"/>
            </a:avLst>
          </a:prstGeom>
          <a:solidFill>
            <a:srgbClr val="1C03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650" y="1001464"/>
            <a:ext cx="79325" cy="79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4638" y="993949"/>
            <a:ext cx="1997273" cy="9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 ASSISTANT — POWERED BY GEMINI AI</a:t>
            </a:r>
            <a:endParaRPr lang="en-US" sz="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196280"/>
            <a:ext cx="496119" cy="5288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1665" y="1196280"/>
            <a:ext cx="1496616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Natural Language Queries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61665" y="1389757"/>
            <a:ext cx="322145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Passengers ask questions in plain English — "Where is platform 3?" or "Which coach is my seat in?" — and receive instant, accurate answers.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1824335"/>
            <a:ext cx="496119" cy="5288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1665" y="1824335"/>
            <a:ext cx="1340421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Navigation &amp; Train Help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061665" y="2017812"/>
            <a:ext cx="322145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 provides platform info, train schedules, coach positions, and step-by-step navigation directions conversationally.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452390"/>
            <a:ext cx="496119" cy="5288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1665" y="2452390"/>
            <a:ext cx="1241152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Emergency Guidance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1061665" y="2645866"/>
            <a:ext cx="322145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 emergencies, the AI chatbot instantly provides evacuation routes, safe zones, and emergency contact information.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4529882" y="964183"/>
            <a:ext cx="1067172" cy="153963"/>
          </a:xfrm>
          <a:prstGeom prst="roundRect">
            <a:avLst>
              <a:gd name="adj" fmla="val 21657"/>
            </a:avLst>
          </a:prstGeom>
          <a:solidFill>
            <a:srgbClr val="1C034A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89413" y="1001464"/>
            <a:ext cx="79325" cy="793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08401" y="993949"/>
            <a:ext cx="1286321" cy="9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REAL-TIME FEATURES</a:t>
            </a:r>
            <a:endParaRPr lang="en-US" sz="600" dirty="0"/>
          </a:p>
        </p:txBody>
      </p:sp>
      <p:sp>
        <p:nvSpPr>
          <p:cNvPr id="18" name="Shape 11"/>
          <p:cNvSpPr/>
          <p:nvPr/>
        </p:nvSpPr>
        <p:spPr>
          <a:xfrm>
            <a:off x="4529882" y="1245840"/>
            <a:ext cx="2657029" cy="123974"/>
          </a:xfrm>
          <a:prstGeom prst="roundRect">
            <a:avLst>
              <a:gd name="adj" fmla="val 33620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7261324" y="1245766"/>
            <a:ext cx="154409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⚡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4529882" y="1471464"/>
            <a:ext cx="163279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 Change Alerts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529882" y="1689720"/>
            <a:ext cx="4122688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Instant push notifications when a train's platform assignment changes, preventing passengers from rushing to the wrong platform.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4529882" y="2114401"/>
            <a:ext cx="2657029" cy="123974"/>
          </a:xfrm>
          <a:prstGeom prst="roundRect">
            <a:avLst>
              <a:gd name="adj" fmla="val 33620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261324" y="2114327"/>
            <a:ext cx="154409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🚆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529882" y="2340025"/>
            <a:ext cx="14885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 Delay Updates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29882" y="2558281"/>
            <a:ext cx="4122688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Live delay status pulled from the database and displayed on the station map and passenger dashboard in real time.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4529882" y="2982962"/>
            <a:ext cx="2657029" cy="123974"/>
          </a:xfrm>
          <a:prstGeom prst="roundRect">
            <a:avLst>
              <a:gd name="adj" fmla="val 33620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261324" y="2982888"/>
            <a:ext cx="154409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👥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529882" y="3208586"/>
            <a:ext cx="14885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Crowd Monitoring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29882" y="3426842"/>
            <a:ext cx="4122688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Admin-monitored crowd density data highlights congested zones and triggers route rerouting suggestions for passengers.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4529882" y="3851523"/>
            <a:ext cx="2657029" cy="123974"/>
          </a:xfrm>
          <a:prstGeom prst="roundRect">
            <a:avLst>
              <a:gd name="adj" fmla="val 33620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261324" y="3851449"/>
            <a:ext cx="154409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🚨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29882" y="4077146"/>
            <a:ext cx="170795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Emergency Notifications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29882" y="4295403"/>
            <a:ext cx="4122688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Station-wide emergency alerts broadcast instantly to all active passenger sessions via Supabase Realtime subscriptions.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327"/>
            <a:ext cx="7976815" cy="319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Dashboard &amp; Head Officer Approval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6119" y="1137717"/>
            <a:ext cx="1319882" cy="221754"/>
          </a:xfrm>
          <a:prstGeom prst="roundRect">
            <a:avLst>
              <a:gd name="adj" fmla="val 19332"/>
            </a:avLst>
          </a:prstGeom>
          <a:noFill/>
          <a:ln w="4763">
            <a:solidFill>
              <a:srgbClr val="A06DF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379" y="1197546"/>
            <a:ext cx="102022" cy="1020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0374" y="1180728"/>
            <a:ext cx="14615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00" dirty="0">
                <a:solidFill>
                  <a:srgbClr val="A06D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ADMIN DASHBOARD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96119" y="1488653"/>
            <a:ext cx="4343400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Station Masters access a powerful management console to control all operational aspects of the station in real time.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1957164"/>
            <a:ext cx="2114252" cy="1377032"/>
          </a:xfrm>
          <a:prstGeom prst="roundRect">
            <a:avLst>
              <a:gd name="adj" fmla="val 3892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427" y="2089472"/>
            <a:ext cx="1624831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🚆</a:t>
            </a: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Train Management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8427" y="2363763"/>
            <a:ext cx="1849636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Add, update, and remove trains; assign platforms; update delay status and departure times.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25192" y="1957164"/>
            <a:ext cx="2114327" cy="1377032"/>
          </a:xfrm>
          <a:prstGeom prst="roundRect">
            <a:avLst>
              <a:gd name="adj" fmla="val 3892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57500" y="2089472"/>
            <a:ext cx="1849710" cy="318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🛤️</a:t>
            </a: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Platform Management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857500" y="2523232"/>
            <a:ext cx="18497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Configure platform layouts, assign trains, and broadcast platform change alerts to passengers.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449017"/>
            <a:ext cx="2114252" cy="1047899"/>
          </a:xfrm>
          <a:prstGeom prst="roundRect">
            <a:avLst>
              <a:gd name="adj" fmla="val 5114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427" y="3581326"/>
            <a:ext cx="1594842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📊</a:t>
            </a: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Crowd Analytics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8427" y="3855616"/>
            <a:ext cx="1849636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Monitor real-time crowd levels across station zones and trigger safety advisories.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25192" y="3449017"/>
            <a:ext cx="2114327" cy="1047899"/>
          </a:xfrm>
          <a:prstGeom prst="roundRect">
            <a:avLst>
              <a:gd name="adj" fmla="val 5114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57500" y="3581326"/>
            <a:ext cx="1753791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🚨</a:t>
            </a: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Emergency Controls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857500" y="3855616"/>
            <a:ext cx="1849710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Send station-wide emergency notifications and activate evacuation guidance instantly.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55481" y="1137717"/>
            <a:ext cx="2263527" cy="212229"/>
          </a:xfrm>
          <a:prstGeom prst="roundRect">
            <a:avLst>
              <a:gd name="adj" fmla="val 20200"/>
            </a:avLst>
          </a:prstGeom>
          <a:solidFill>
            <a:srgbClr val="1C034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978" y="1192783"/>
            <a:ext cx="102022" cy="10202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84974" y="1175965"/>
            <a:ext cx="24147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HEAD OFFICER APPROVAL WORKFLOW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354" y="1479128"/>
            <a:ext cx="3147343" cy="118102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73375" y="2309436"/>
            <a:ext cx="474713" cy="21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Access Granted</a:t>
            </a:r>
            <a:endParaRPr lang="en-US" sz="550" dirty="0"/>
          </a:p>
        </p:txBody>
      </p:sp>
      <p:sp>
        <p:nvSpPr>
          <p:cNvPr id="24" name="Text 19"/>
          <p:cNvSpPr/>
          <p:nvPr/>
        </p:nvSpPr>
        <p:spPr>
          <a:xfrm>
            <a:off x="7275107" y="2346015"/>
            <a:ext cx="474713" cy="146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Approve or Reject</a:t>
            </a:r>
            <a:endParaRPr lang="en-US" sz="550" dirty="0"/>
          </a:p>
        </p:txBody>
      </p:sp>
      <p:sp>
        <p:nvSpPr>
          <p:cNvPr id="25" name="Text 20"/>
          <p:cNvSpPr/>
          <p:nvPr/>
        </p:nvSpPr>
        <p:spPr>
          <a:xfrm>
            <a:off x="6680091" y="2346015"/>
            <a:ext cx="474712" cy="146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Head Officer Review</a:t>
            </a:r>
            <a:endParaRPr lang="en-US" sz="550" dirty="0"/>
          </a:p>
        </p:txBody>
      </p:sp>
      <p:sp>
        <p:nvSpPr>
          <p:cNvPr id="26" name="Text 21"/>
          <p:cNvSpPr/>
          <p:nvPr/>
        </p:nvSpPr>
        <p:spPr>
          <a:xfrm>
            <a:off x="6085075" y="2346015"/>
            <a:ext cx="474712" cy="146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Pending Request</a:t>
            </a:r>
            <a:endParaRPr lang="en-US" sz="550" dirty="0"/>
          </a:p>
        </p:txBody>
      </p:sp>
      <p:sp>
        <p:nvSpPr>
          <p:cNvPr id="27" name="Text 22"/>
          <p:cNvSpPr/>
          <p:nvPr/>
        </p:nvSpPr>
        <p:spPr>
          <a:xfrm>
            <a:off x="5477052" y="2346015"/>
            <a:ext cx="474712" cy="146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Registration</a:t>
            </a:r>
            <a:endParaRPr lang="en-US" sz="550" dirty="0"/>
          </a:p>
        </p:txBody>
      </p:sp>
      <p:sp>
        <p:nvSpPr>
          <p:cNvPr id="28" name="Text 23"/>
          <p:cNvSpPr/>
          <p:nvPr/>
        </p:nvSpPr>
        <p:spPr>
          <a:xfrm>
            <a:off x="5155481" y="2789337"/>
            <a:ext cx="34970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This two-tier access control system ensures only verified, authorized personnel can manage critical station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7E9E8-114A-43F6-3884-C0C23D4CA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3333"/>
          <a:stretch>
            <a:fillRect/>
          </a:stretch>
        </p:blipFill>
        <p:spPr>
          <a:xfrm>
            <a:off x="0" y="510895"/>
            <a:ext cx="6096000" cy="41217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4EEC26-753A-777D-9BB6-8F57CDA97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704990"/>
            <a:ext cx="2484521" cy="4069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555BD7-524D-97B4-D689-5ED320A51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07944"/>
            <a:ext cx="2484521" cy="416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7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7081"/>
            <a:ext cx="4001319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Technologies Used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44116"/>
            <a:ext cx="8151763" cy="1845171"/>
          </a:xfrm>
          <a:prstGeom prst="roundRect">
            <a:avLst>
              <a:gd name="adj" fmla="val 3227"/>
            </a:avLst>
          </a:prstGeom>
          <a:solidFill>
            <a:srgbClr val="432F84"/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48879"/>
            <a:ext cx="2714030" cy="1835646"/>
          </a:xfrm>
          <a:prstGeom prst="roundRect">
            <a:avLst>
              <a:gd name="adj" fmla="val 3244"/>
            </a:avLst>
          </a:prstGeom>
          <a:solidFill>
            <a:srgbClr val="432F84"/>
          </a:solidFill>
          <a:ln/>
        </p:spPr>
      </p:sp>
      <p:sp>
        <p:nvSpPr>
          <p:cNvPr id="5" name="Text 3"/>
          <p:cNvSpPr/>
          <p:nvPr/>
        </p:nvSpPr>
        <p:spPr>
          <a:xfrm>
            <a:off x="642640" y="1290638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1552873"/>
            <a:ext cx="2217911" cy="1289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React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Component-based UI framework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TypeScript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Type-safe development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Tailwind CSS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Utility-first responsive styling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4911" y="1148879"/>
            <a:ext cx="2714104" cy="1835646"/>
          </a:xfrm>
          <a:prstGeom prst="rect">
            <a:avLst/>
          </a:prstGeom>
          <a:solidFill>
            <a:srgbClr val="432F84"/>
          </a:solidFill>
          <a:ln/>
        </p:spPr>
      </p:sp>
      <p:sp>
        <p:nvSpPr>
          <p:cNvPr id="8" name="Shape 6"/>
          <p:cNvSpPr/>
          <p:nvPr/>
        </p:nvSpPr>
        <p:spPr>
          <a:xfrm>
            <a:off x="3214911" y="1148879"/>
            <a:ext cx="19050" cy="1835646"/>
          </a:xfrm>
          <a:prstGeom prst="roundRect">
            <a:avLst>
              <a:gd name="adj" fmla="val 312558"/>
            </a:avLst>
          </a:prstGeom>
          <a:solidFill>
            <a:srgbClr val="6B3982"/>
          </a:solidFill>
          <a:ln/>
        </p:spPr>
      </p:sp>
      <p:sp>
        <p:nvSpPr>
          <p:cNvPr id="9" name="Text 7"/>
          <p:cNvSpPr/>
          <p:nvPr/>
        </p:nvSpPr>
        <p:spPr>
          <a:xfrm>
            <a:off x="3569271" y="1290638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 &amp; Database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9271" y="1552873"/>
            <a:ext cx="2005385" cy="1289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Supabase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PostgreSQL backend-as-a-service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Supabase Auth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Role-based authentication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Supabase Realtime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Live event subscriptions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7731" y="1889522"/>
            <a:ext cx="354360" cy="354360"/>
          </a:xfrm>
          <a:prstGeom prst="roundRect">
            <a:avLst>
              <a:gd name="adj" fmla="val 16803"/>
            </a:avLst>
          </a:prstGeom>
          <a:solidFill>
            <a:srgbClr val="100D39"/>
          </a:solidFill>
          <a:ln w="19050">
            <a:solidFill>
              <a:srgbClr val="6B398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6284" y="1978075"/>
            <a:ext cx="177180" cy="1771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29015" y="1148879"/>
            <a:ext cx="2714104" cy="1835646"/>
          </a:xfrm>
          <a:prstGeom prst="rect">
            <a:avLst/>
          </a:prstGeom>
          <a:solidFill>
            <a:srgbClr val="432F84"/>
          </a:solidFill>
          <a:ln/>
        </p:spPr>
      </p:sp>
      <p:sp>
        <p:nvSpPr>
          <p:cNvPr id="14" name="Shape 11"/>
          <p:cNvSpPr/>
          <p:nvPr/>
        </p:nvSpPr>
        <p:spPr>
          <a:xfrm>
            <a:off x="5929015" y="1148879"/>
            <a:ext cx="19050" cy="1835646"/>
          </a:xfrm>
          <a:prstGeom prst="roundRect">
            <a:avLst>
              <a:gd name="adj" fmla="val 312558"/>
            </a:avLst>
          </a:prstGeom>
          <a:solidFill>
            <a:srgbClr val="5469CD"/>
          </a:solidFill>
          <a:ln/>
        </p:spPr>
      </p:sp>
      <p:sp>
        <p:nvSpPr>
          <p:cNvPr id="15" name="Text 12"/>
          <p:cNvSpPr/>
          <p:nvPr/>
        </p:nvSpPr>
        <p:spPr>
          <a:xfrm>
            <a:off x="6283375" y="1290638"/>
            <a:ext cx="177202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&amp; Navigation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83375" y="1552873"/>
            <a:ext cx="2217986" cy="8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Gemini AI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Natural language AI assistant</a:t>
            </a:r>
            <a:endParaRPr lang="en-US" sz="11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A* Pathfinding</a:t>
            </a: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Optimal indoor route calculation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51835" y="1889522"/>
            <a:ext cx="354360" cy="354360"/>
          </a:xfrm>
          <a:prstGeom prst="roundRect">
            <a:avLst>
              <a:gd name="adj" fmla="val 16803"/>
            </a:avLst>
          </a:prstGeom>
          <a:solidFill>
            <a:srgbClr val="100D39"/>
          </a:solidFill>
          <a:ln w="19050">
            <a:solidFill>
              <a:srgbClr val="5469C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0388" y="1978075"/>
            <a:ext cx="177180" cy="177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303"/>
            <a:ext cx="511879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Innovations &amp; Future Enhancements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950714"/>
            <a:ext cx="945579" cy="153963"/>
          </a:xfrm>
          <a:prstGeom prst="roundRect">
            <a:avLst>
              <a:gd name="adj" fmla="val 21657"/>
            </a:avLst>
          </a:prstGeom>
          <a:solidFill>
            <a:srgbClr val="1C03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650" y="987996"/>
            <a:ext cx="79325" cy="79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4638" y="980480"/>
            <a:ext cx="1164729" cy="9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INNOVATIONS</a:t>
            </a:r>
            <a:endParaRPr lang="en-US" sz="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182812"/>
            <a:ext cx="248022" cy="248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1517600"/>
            <a:ext cx="1477789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Indoor Railway Navigation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96119" y="1711077"/>
            <a:ext cx="1934021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First-of-its-kind interactive indoor map for railway stations with real-time zone status.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16907" y="1182812"/>
            <a:ext cx="248022" cy="248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16907" y="1517600"/>
            <a:ext cx="1240408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Train Finder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2516907" y="1711077"/>
            <a:ext cx="1934096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Instantly locate any train's platform, coach layout, and delay status from a single search.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16907" y="2204293"/>
            <a:ext cx="248022" cy="2480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16907" y="2539082"/>
            <a:ext cx="1240408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Assistant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2516907" y="2732559"/>
            <a:ext cx="1934096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Conversational Gemini AI handles complex passenger queries in natural language.</a:t>
            </a:r>
            <a:endParaRPr lang="en-US" sz="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470" y="2162324"/>
            <a:ext cx="248022" cy="2480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6470" y="2497113"/>
            <a:ext cx="1345034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Notifications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421612" y="2745060"/>
            <a:ext cx="1934021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Live Supabase Realtime alerts for platform changes, delays, and emergencies.</a:t>
            </a:r>
            <a:endParaRPr lang="en-US" sz="750" dirty="0"/>
          </a:p>
        </p:txBody>
      </p:sp>
      <p:sp>
        <p:nvSpPr>
          <p:cNvPr id="23" name="Text 14"/>
          <p:cNvSpPr/>
          <p:nvPr/>
        </p:nvSpPr>
        <p:spPr>
          <a:xfrm>
            <a:off x="2516907" y="3754041"/>
            <a:ext cx="1934096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endParaRPr lang="en-US" sz="750" dirty="0"/>
          </a:p>
        </p:txBody>
      </p:sp>
      <p:sp>
        <p:nvSpPr>
          <p:cNvPr id="24" name="Shape 15"/>
          <p:cNvSpPr/>
          <p:nvPr/>
        </p:nvSpPr>
        <p:spPr>
          <a:xfrm>
            <a:off x="4697760" y="950714"/>
            <a:ext cx="1243459" cy="163488"/>
          </a:xfrm>
          <a:prstGeom prst="roundRect">
            <a:avLst>
              <a:gd name="adj" fmla="val 20395"/>
            </a:avLst>
          </a:prstGeom>
          <a:noFill/>
          <a:ln w="4763">
            <a:solidFill>
              <a:srgbClr val="A06DFA"/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2054" y="992758"/>
            <a:ext cx="79325" cy="7932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81042" y="985242"/>
            <a:ext cx="1453083" cy="9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A06D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FUTURE ENHANCEMENTS</a:t>
            </a:r>
            <a:endParaRPr lang="en-US" sz="600" dirty="0"/>
          </a:p>
        </p:txBody>
      </p:sp>
      <p:sp>
        <p:nvSpPr>
          <p:cNvPr id="27" name="Shape 17"/>
          <p:cNvSpPr/>
          <p:nvPr/>
        </p:nvSpPr>
        <p:spPr>
          <a:xfrm>
            <a:off x="4697760" y="1192337"/>
            <a:ext cx="99194" cy="595387"/>
          </a:xfrm>
          <a:prstGeom prst="roundRect">
            <a:avLst>
              <a:gd name="adj" fmla="val 42018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4866382" y="1291530"/>
            <a:ext cx="1426071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Multi-Language Support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4866382" y="1485007"/>
            <a:ext cx="378626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Serve passengers in regional and national languages for inclusive accessibility.</a:t>
            </a:r>
            <a:endParaRPr lang="en-US" sz="750" dirty="0"/>
          </a:p>
        </p:txBody>
      </p:sp>
      <p:sp>
        <p:nvSpPr>
          <p:cNvPr id="30" name="Shape 20"/>
          <p:cNvSpPr/>
          <p:nvPr/>
        </p:nvSpPr>
        <p:spPr>
          <a:xfrm>
            <a:off x="4846588" y="1857152"/>
            <a:ext cx="99194" cy="595387"/>
          </a:xfrm>
          <a:prstGeom prst="roundRect">
            <a:avLst>
              <a:gd name="adj" fmla="val 42018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5015210" y="1956346"/>
            <a:ext cx="1602284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0E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Mobile App (iOS &amp; Android)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5015210" y="2149822"/>
            <a:ext cx="3637434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Native mobile apps with offline map support and push notifications.</a:t>
            </a:r>
            <a:endParaRPr lang="en-US" sz="750" dirty="0"/>
          </a:p>
        </p:txBody>
      </p:sp>
      <p:sp>
        <p:nvSpPr>
          <p:cNvPr id="35" name="Text 25"/>
          <p:cNvSpPr/>
          <p:nvPr/>
        </p:nvSpPr>
        <p:spPr>
          <a:xfrm>
            <a:off x="5164038" y="2814637"/>
            <a:ext cx="348860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endParaRPr lang="en-US" sz="750" dirty="0"/>
          </a:p>
        </p:txBody>
      </p:sp>
      <p:sp>
        <p:nvSpPr>
          <p:cNvPr id="38" name="Text 28"/>
          <p:cNvSpPr/>
          <p:nvPr/>
        </p:nvSpPr>
        <p:spPr>
          <a:xfrm>
            <a:off x="5312941" y="3512121"/>
            <a:ext cx="333970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endParaRPr lang="en-US" sz="750" dirty="0"/>
          </a:p>
        </p:txBody>
      </p:sp>
      <p:sp>
        <p:nvSpPr>
          <p:cNvPr id="41" name="Text 31"/>
          <p:cNvSpPr/>
          <p:nvPr/>
        </p:nvSpPr>
        <p:spPr>
          <a:xfrm>
            <a:off x="5164038" y="4209604"/>
            <a:ext cx="348860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4570"/>
            <a:ext cx="1190997" cy="182240"/>
          </a:xfrm>
          <a:prstGeom prst="roundRect">
            <a:avLst>
              <a:gd name="adj" fmla="val 20910"/>
            </a:avLst>
          </a:prstGeom>
          <a:solidFill>
            <a:srgbClr val="1C03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133" y="770334"/>
            <a:ext cx="90711" cy="90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162" y="758577"/>
            <a:ext cx="1376139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RESULTS &amp; BENEFITS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943049"/>
            <a:ext cx="329252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 of RailNova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6119" y="1328589"/>
            <a:ext cx="2344787" cy="897434"/>
          </a:xfrm>
          <a:prstGeom prst="roundRect">
            <a:avLst>
              <a:gd name="adj" fmla="val 5308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288" y="1446758"/>
            <a:ext cx="2108448" cy="283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Reduced Passenger Confusion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4288" y="1820987"/>
            <a:ext cx="210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Clear visual routes and AI guidance eliminate platform-finding stress.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31616" y="1328589"/>
            <a:ext cx="2344862" cy="897434"/>
          </a:xfrm>
          <a:prstGeom prst="roundRect">
            <a:avLst>
              <a:gd name="adj" fmla="val 5308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9786" y="1446758"/>
            <a:ext cx="141766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⚡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Faster Navigation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49786" y="1679228"/>
            <a:ext cx="21085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A* pathfinding cuts walking time by guiding passengers along optimal station routes.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96119" y="2316733"/>
            <a:ext cx="2344787" cy="754559"/>
          </a:xfrm>
          <a:prstGeom prst="roundRect">
            <a:avLst>
              <a:gd name="adj" fmla="val 6313"/>
            </a:avLst>
          </a:prstGeom>
          <a:solidFill>
            <a:srgbClr val="3B50B4">
              <a:alpha val="50000"/>
            </a:srgbClr>
          </a:solidFill>
          <a:ln w="4763">
            <a:solidFill>
              <a:srgbClr val="5469C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288" y="2434903"/>
            <a:ext cx="141766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🛡️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Improved Safety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4288" y="2667372"/>
            <a:ext cx="210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Crowd monitoring and emergency alerts enable proactive safety management.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931616" y="2316733"/>
            <a:ext cx="2344862" cy="754559"/>
          </a:xfrm>
          <a:prstGeom prst="roundRect">
            <a:avLst>
              <a:gd name="adj" fmla="val 6313"/>
            </a:avLst>
          </a:prstGeom>
          <a:solidFill>
            <a:srgbClr val="7550CE">
              <a:alpha val="50000"/>
            </a:srgbClr>
          </a:solidFill>
          <a:ln w="4763">
            <a:solidFill>
              <a:srgbClr val="8E69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49786" y="2434903"/>
            <a:ext cx="2038499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📊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Better Station Management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49786" y="2667372"/>
            <a:ext cx="21085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Admins gain real-time operational control through a unified dashboard.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96119" y="3162002"/>
            <a:ext cx="4780359" cy="611684"/>
          </a:xfrm>
          <a:prstGeom prst="roundRect">
            <a:avLst>
              <a:gd name="adj" fmla="val 7787"/>
            </a:avLst>
          </a:prstGeom>
          <a:solidFill>
            <a:srgbClr val="522069">
              <a:alpha val="50000"/>
            </a:srgbClr>
          </a:solidFill>
          <a:ln w="4763">
            <a:solidFill>
              <a:srgbClr val="6B39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288" y="3280172"/>
            <a:ext cx="236830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🌟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Enhanced Passenger Experience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4288" y="3512641"/>
            <a:ext cx="45440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PNR assistance, AI chatbot, and voice guidance deliver a world-class travel experience.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96119" y="3875708"/>
            <a:ext cx="4780359" cy="543148"/>
          </a:xfrm>
          <a:prstGeom prst="roundRect">
            <a:avLst>
              <a:gd name="adj" fmla="val 8770"/>
            </a:avLst>
          </a:prstGeom>
          <a:solidFill>
            <a:srgbClr val="183A13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26" y="4027736"/>
            <a:ext cx="141759" cy="11340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64691" y="3994770"/>
            <a:ext cx="4298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RailNova transforms traditional railway stations into smart, passenger-centric digital environments — making every journey safer, faster, and stress-free.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329312" y="891853"/>
            <a:ext cx="3323258" cy="39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AD9CC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</a:t>
            </a:r>
            <a:endParaRPr lang="en-US" sz="3050" dirty="0"/>
          </a:p>
        </p:txBody>
      </p:sp>
      <p:sp>
        <p:nvSpPr>
          <p:cNvPr id="25" name="Text 21"/>
          <p:cNvSpPr/>
          <p:nvPr/>
        </p:nvSpPr>
        <p:spPr>
          <a:xfrm>
            <a:off x="5329312" y="1373832"/>
            <a:ext cx="33232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BB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 are happy to take your questions.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557912" y="1647081"/>
            <a:ext cx="3094658" cy="8483"/>
          </a:xfrm>
          <a:prstGeom prst="rect">
            <a:avLst/>
          </a:prstGeom>
          <a:solidFill>
            <a:srgbClr val="CCB9D7">
              <a:alpha val="50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5728022" y="1785938"/>
            <a:ext cx="292454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RailNova</a:t>
            </a: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— An intelligent, AI-powered indoor railway navigation system that improves passenger experience, enhances safety, delivers real-time train information, and modernizes station management through smart digital technologies.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557912" y="1785938"/>
            <a:ext cx="14288" cy="714375"/>
          </a:xfrm>
          <a:prstGeom prst="rect">
            <a:avLst/>
          </a:prstGeom>
          <a:solidFill>
            <a:srgbClr val="A06DFA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7912" y="2602334"/>
            <a:ext cx="3094658" cy="773609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1577" y="2904083"/>
            <a:ext cx="170111" cy="17011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16538" y="2730029"/>
            <a:ext cx="141766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Repository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116538" y="2962498"/>
            <a:ext cx="24083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Source code &amp; documentation available on request</a:t>
            </a:r>
            <a:endParaRPr lang="en-US" sz="8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57912" y="3466654"/>
            <a:ext cx="3094658" cy="773609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11577" y="3768403"/>
            <a:ext cx="170111" cy="170111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116538" y="3594348"/>
            <a:ext cx="141766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CCB9D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Contact Us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116538" y="3826818"/>
            <a:ext cx="24083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CB9D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Connect with the project team for queries &amp; collaboration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1246</Words>
  <Application>Microsoft Office PowerPoint</Application>
  <PresentationFormat>On-screen Show (16:9)</PresentationFormat>
  <Paragraphs>204</Paragraphs>
  <Slides>12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Instrument Sans Light</vt:lpstr>
      <vt:lpstr>Gill Sans MT</vt:lpstr>
      <vt:lpstr>Instrument Sans</vt:lpstr>
      <vt:lpstr>Gill Sans Ultra Bold</vt:lpstr>
      <vt:lpstr>Instrument Sans Medium</vt:lpstr>
      <vt:lpstr>Goudy Old Style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RISHI  M RTC2025BCY031</cp:lastModifiedBy>
  <cp:revision>3</cp:revision>
  <dcterms:created xsi:type="dcterms:W3CDTF">2026-05-31T03:59:26Z</dcterms:created>
  <dcterms:modified xsi:type="dcterms:W3CDTF">2026-06-01T15:38:15Z</dcterms:modified>
</cp:coreProperties>
</file>